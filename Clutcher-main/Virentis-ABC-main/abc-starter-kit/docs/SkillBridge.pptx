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 and solution" id="{f5be9bd7-3e47-0333-9557-a9d901f7c843}">
          <p14:sldIdLst>
            <p14:sldId id="256"/>
            <p14:sldId id="257"/>
          </p14:sldIdLst>
        </p14:section>
        <p14:section name="Architecture and engine" id="{ae7f661d-df63-5e5d-ef84-ea7f917c1573}">
          <p14:sldIdLst>
            <p14:sldId id="258"/>
            <p14:sldId id="259"/>
          </p14:sldIdLst>
        </p14:section>
        <p14:section name="Delivery" id="{d106454a-b1b6-224c-5d2a-08dadedbf61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face scattered listings, buried eligibility rules and no view of their skill gaps. SkillBridge puts all of it in one ranked, explained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pipelines. Ingestion fills one shared catalogue; matching reads it. Gemini only extracts; all eligibility and scoring is plain Python, so matching still works if Gemini or the scraper is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zones mirror the existing stack: users and external services, React frontend, Flask backend, and Supabase data plus intelligence. Application tables are reached only through Flask. Refresh runs as a backend command, never from a browser-accessible URL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inputs always give the same ranking. An explicit eligibility failure beats uncertainty, and a high skill fit can never override ineligibility.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risk maps to a rule in the specification. The key safeguard: a failed or missing fetch never closes an opportunity or deletes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build order in the spec: contracts first, then end-to-end matching on curated data, then one live adapter, repeatable imports, and finally the separate scheduler.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SkillBridge  |  PS-61 Internship &amp; Hackathon Matcher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6304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SkillBridge  |  PS-61 Internship &amp; Hackathon Matcher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463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chemeClr val="bg1"/>
                </a:solidFill>
              </a:rPr>
              <a:t>SkillBridge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Internship &amp; Hackathon Matcher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Match your skills and eligibility to real opportunities, with clear reasons, skill gaps and deadlines.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PS-61  |  Built on the existing abc-starter-kit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Problem card 1"/>
          <p:cNvSpPr/>
          <p:nvPr/>
        </p:nvSpPr>
        <p:spPr>
          <a:xfrm>
            <a:off x="6858000" y="150876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Icon Scattered listings circle"/>
          <p:cNvSpPr/>
          <p:nvPr/>
        </p:nvSpPr>
        <p:spPr>
          <a:xfrm>
            <a:off x="7086600" y="19202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con Scattered listings" descr="Icon Scattered lis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0574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863840" y="1673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Scattered listings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20391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Internships and hackathons live on many sites, with no single catalogue.</a:t>
            </a:r>
            <a:endParaRPr lang="en-US" sz="1400" dirty="0"/>
          </a:p>
        </p:txBody>
      </p:sp>
      <p:sp>
        <p:nvSpPr>
          <p:cNvPr id="12" name="Problem card 2"/>
          <p:cNvSpPr/>
          <p:nvPr/>
        </p:nvSpPr>
        <p:spPr>
          <a:xfrm>
            <a:off x="6858000" y="306324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Icon Hidden eligibility circle"/>
          <p:cNvSpPr/>
          <p:nvPr/>
        </p:nvSpPr>
        <p:spPr>
          <a:xfrm>
            <a:off x="7086600" y="3474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 Hidden eligibility" descr="Icon Hidden eligibi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6118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863840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Hidden eligibility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863840" y="3593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Country, study level and graduation year rules sit in the fine print.</a:t>
            </a:r>
            <a:endParaRPr lang="en-US" sz="1400" dirty="0"/>
          </a:p>
        </p:txBody>
      </p:sp>
      <p:sp>
        <p:nvSpPr>
          <p:cNvPr id="17" name="Problem card 3"/>
          <p:cNvSpPr/>
          <p:nvPr/>
        </p:nvSpPr>
        <p:spPr>
          <a:xfrm>
            <a:off x="6858000" y="461772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Icon No skill-gap clarity circle"/>
          <p:cNvSpPr/>
          <p:nvPr/>
        </p:nvSpPr>
        <p:spPr>
          <a:xfrm>
            <a:off x="7086600" y="50292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con No skill-gap clarity" descr="Icon No skill-gap clar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51663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863840" y="4782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skill-gap clarity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514807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Students cannot see why they fit, what they lack, or when it closes.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SkillBridge works</a:t>
            </a:r>
            <a:endParaRPr lang="en-US" sz="3400" dirty="0"/>
          </a:p>
        </p:txBody>
      </p:sp>
      <p:sp>
        <p:nvSpPr>
          <p:cNvPr id="3" name="Row label 1"/>
          <p:cNvSpPr/>
          <p:nvPr/>
        </p:nvSpPr>
        <p:spPr>
          <a:xfrm>
            <a:off x="548640" y="1280160"/>
            <a:ext cx="4480560" cy="329184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INGESTION  |  automatic, safe to repeat</a:t>
            </a:r>
            <a:endParaRPr lang="en-US" sz="1200" dirty="0"/>
          </a:p>
        </p:txBody>
      </p:sp>
      <p:sp>
        <p:nvSpPr>
          <p:cNvPr id="5" name="INGESTION step 1"/>
          <p:cNvSpPr/>
          <p:nvPr/>
        </p:nvSpPr>
        <p:spPr>
          <a:xfrm>
            <a:off x="548640" y="173736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Fetch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042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Timeouts, retries and per-source pacing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487168"/>
            <a:ext cx="2514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INGESTION step 2"/>
          <p:cNvSpPr/>
          <p:nvPr/>
        </p:nvSpPr>
        <p:spPr>
          <a:xfrm>
            <a:off x="2811780" y="173736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8940" y="18745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894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6042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Extract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48940" y="23042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Gemini returns schema-based JSON with evidence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23460" y="2487168"/>
            <a:ext cx="2514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INGESTION step 3"/>
          <p:cNvSpPr/>
          <p:nvPr/>
        </p:nvSpPr>
        <p:spPr>
          <a:xfrm>
            <a:off x="5074920" y="173736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8745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Normalize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3042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Canonical skills, dates and country codes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86600" y="2487168"/>
            <a:ext cx="2514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3" name="INGESTION step 4"/>
          <p:cNvSpPr/>
          <p:nvPr/>
        </p:nvSpPr>
        <p:spPr>
          <a:xfrm>
            <a:off x="7338060" y="173736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5220" y="18745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522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88670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Validate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75220" y="23042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shared validator, also used for manual entry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349740" y="2487168"/>
            <a:ext cx="2514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9" name="INGESTION step 5"/>
          <p:cNvSpPr/>
          <p:nvPr/>
        </p:nvSpPr>
        <p:spPr>
          <a:xfrm>
            <a:off x="9601200" y="173736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18745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3836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Upsert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230428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Update, never duplicate; unclear entries wait for review</a:t>
            </a:r>
            <a:endParaRPr lang="en-US" sz="1300" dirty="0"/>
          </a:p>
        </p:txBody>
      </p:sp>
      <p:sp>
        <p:nvSpPr>
          <p:cNvPr id="34" name="Row label 2"/>
          <p:cNvSpPr/>
          <p:nvPr/>
        </p:nvSpPr>
        <p:spPr>
          <a:xfrm>
            <a:off x="548640" y="3429000"/>
            <a:ext cx="4480560" cy="329184"/>
          </a:xfrm>
          <a:prstGeom prst="roundRect">
            <a:avLst>
              <a:gd name="adj" fmla="val 22222"/>
            </a:avLst>
          </a:prstGeom>
          <a:solidFill>
            <a:srgbClr val="0B3C3F"/>
          </a:solidFill>
          <a:ln w="12700">
            <a:solidFill>
              <a:srgbClr val="0B3C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3429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MATCHING  |  deterministic, works without AI</a:t>
            </a:r>
            <a:endParaRPr lang="en-US" sz="1200" dirty="0"/>
          </a:p>
        </p:txBody>
      </p:sp>
      <p:sp>
        <p:nvSpPr>
          <p:cNvPr id="36" name="MATCHING step 1"/>
          <p:cNvSpPr/>
          <p:nvPr/>
        </p:nvSpPr>
        <p:spPr>
          <a:xfrm>
            <a:off x="548640" y="388620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40233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4023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Student input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445312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Skills, country, study level, graduation year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560320" y="4636008"/>
            <a:ext cx="2514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2" name="MATCHING step 2"/>
          <p:cNvSpPr/>
          <p:nvPr/>
        </p:nvSpPr>
        <p:spPr>
          <a:xfrm>
            <a:off x="2811780" y="388620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48940" y="40233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4894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60420" y="4023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Filter catalogue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2948940" y="445312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Approved, open and not past deadline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23460" y="4636008"/>
            <a:ext cx="2514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8" name="MATCHING step 3"/>
          <p:cNvSpPr/>
          <p:nvPr/>
        </p:nvSpPr>
        <p:spPr>
          <a:xfrm>
            <a:off x="5074920" y="388620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40233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21208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623560" y="4023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Eligibility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5212080" y="445312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Rule-based status with plain reasons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086600" y="4636008"/>
            <a:ext cx="2514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4" name="MATCHING step 4"/>
          <p:cNvSpPr/>
          <p:nvPr/>
        </p:nvSpPr>
        <p:spPr>
          <a:xfrm>
            <a:off x="7338060" y="388620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75220" y="40233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7522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7886700" y="4023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Skill fit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7475220" y="445312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Weighted score: required x2, preferred x1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9349740" y="4636008"/>
            <a:ext cx="2514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0" name="MATCHING step 5"/>
          <p:cNvSpPr/>
          <p:nvPr/>
        </p:nvSpPr>
        <p:spPr>
          <a:xfrm>
            <a:off x="9601200" y="3886200"/>
            <a:ext cx="2011680" cy="1508760"/>
          </a:xfrm>
          <a:prstGeom prst="roundRect">
            <a:avLst>
              <a:gd name="adj" fmla="val 4848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38360" y="40233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73836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0" y="4023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Ranked results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9738360" y="445312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Matched and missing skills, deadline, source link</a:t>
            </a:r>
            <a:endParaRPr lang="en-US" sz="1300" dirty="0"/>
          </a:p>
        </p:txBody>
      </p:sp>
      <p:sp>
        <p:nvSpPr>
          <p:cNvPr id="65" name="Principle banner"/>
          <p:cNvSpPr/>
          <p:nvPr/>
        </p:nvSpPr>
        <p:spPr>
          <a:xfrm>
            <a:off x="548640" y="55778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B3C3F"/>
          </a:solidFill>
          <a:ln w="12700">
            <a:solidFill>
              <a:srgbClr val="0B3C3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8640" y="55778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Gemini extracts information. Python evaluates rules and calculates scores.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Zone panel 1"/>
          <p:cNvSpPr/>
          <p:nvPr/>
        </p:nvSpPr>
        <p:spPr>
          <a:xfrm>
            <a:off x="548640" y="1280160"/>
            <a:ext cx="2706624" cy="4892040"/>
          </a:xfrm>
          <a:prstGeom prst="roundRect">
            <a:avLst>
              <a:gd name="adj" fmla="val 2703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4" name="Zone header 1"/>
          <p:cNvSpPr/>
          <p:nvPr/>
        </p:nvSpPr>
        <p:spPr>
          <a:xfrm>
            <a:off x="548640" y="1280160"/>
            <a:ext cx="2706624" cy="658368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44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ZONE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Users &amp; external services</a:t>
            </a:r>
            <a:endParaRPr lang="en-US" sz="1500" dirty="0"/>
          </a:p>
        </p:txBody>
      </p:sp>
      <p:sp>
        <p:nvSpPr>
          <p:cNvPr id="7" name="Zone 1 component 1"/>
          <p:cNvSpPr/>
          <p:nvPr/>
        </p:nvSpPr>
        <p:spPr>
          <a:xfrm>
            <a:off x="640080" y="2057400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1226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Student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00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Selects skills and eligibility, views ranked matches</a:t>
            </a:r>
            <a:endParaRPr lang="en-US" sz="1100" dirty="0"/>
          </a:p>
        </p:txBody>
      </p:sp>
      <p:sp>
        <p:nvSpPr>
          <p:cNvPr id="10" name="Zone 1 component 2"/>
          <p:cNvSpPr/>
          <p:nvPr/>
        </p:nvSpPr>
        <p:spPr>
          <a:xfrm>
            <a:off x="640080" y="2871216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2608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16382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Adds catalogue entries via the shared pipeline</a:t>
            </a:r>
            <a:endParaRPr lang="en-US" sz="1100" dirty="0"/>
          </a:p>
        </p:txBody>
      </p:sp>
      <p:sp>
        <p:nvSpPr>
          <p:cNvPr id="13" name="Zone 1 component 3"/>
          <p:cNvSpPr/>
          <p:nvPr/>
        </p:nvSpPr>
        <p:spPr>
          <a:xfrm>
            <a:off x="640080" y="3685032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39896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Supabase Auth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7764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Existing sign-in and role checks</a:t>
            </a:r>
            <a:endParaRPr lang="en-US" sz="1100" dirty="0"/>
          </a:p>
        </p:txBody>
      </p:sp>
      <p:sp>
        <p:nvSpPr>
          <p:cNvPr id="16" name="Zone 1 component 4"/>
          <p:cNvSpPr/>
          <p:nvPr/>
        </p:nvSpPr>
        <p:spPr>
          <a:xfrm>
            <a:off x="640080" y="4498848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53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Gemini API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9145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google-genai extraction only; never needed to match</a:t>
            </a:r>
            <a:endParaRPr lang="en-US" sz="1100" dirty="0"/>
          </a:p>
        </p:txBody>
      </p:sp>
      <p:sp>
        <p:nvSpPr>
          <p:cNvPr id="19" name="Zone 1 component 5"/>
          <p:cNvSpPr/>
          <p:nvPr/>
        </p:nvSpPr>
        <p:spPr>
          <a:xfrm>
            <a:off x="640080" y="5312664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36752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Source website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60527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supported adapter, access checked first</a:t>
            </a:r>
            <a:endParaRPr lang="en-US" sz="1100" dirty="0"/>
          </a:p>
        </p:txBody>
      </p:sp>
      <p:sp>
        <p:nvSpPr>
          <p:cNvPr id="22" name="Zone panel 2"/>
          <p:cNvSpPr/>
          <p:nvPr/>
        </p:nvSpPr>
        <p:spPr>
          <a:xfrm>
            <a:off x="3355848" y="1280160"/>
            <a:ext cx="2706624" cy="4892040"/>
          </a:xfrm>
          <a:prstGeom prst="roundRect">
            <a:avLst>
              <a:gd name="adj" fmla="val 2703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23" name="Zone header 2"/>
          <p:cNvSpPr/>
          <p:nvPr/>
        </p:nvSpPr>
        <p:spPr>
          <a:xfrm>
            <a:off x="3355848" y="1280160"/>
            <a:ext cx="2706624" cy="658368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93008" y="1344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ZONE 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93008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Frontend (presentation)</a:t>
            </a:r>
            <a:endParaRPr lang="en-US" sz="1500" dirty="0"/>
          </a:p>
        </p:txBody>
      </p:sp>
      <p:sp>
        <p:nvSpPr>
          <p:cNvPr id="26" name="Zone 2 component 1"/>
          <p:cNvSpPr/>
          <p:nvPr/>
        </p:nvSpPr>
        <p:spPr>
          <a:xfrm>
            <a:off x="3447288" y="2057400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38728" y="211226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React + TypeScript + Vite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538728" y="23500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Existing app shell, no migration</a:t>
            </a:r>
            <a:endParaRPr lang="en-US" sz="1100" dirty="0"/>
          </a:p>
        </p:txBody>
      </p:sp>
      <p:sp>
        <p:nvSpPr>
          <p:cNvPr id="29" name="Zone 2 component 2"/>
          <p:cNvSpPr/>
          <p:nvPr/>
        </p:nvSpPr>
        <p:spPr>
          <a:xfrm>
            <a:off x="3447288" y="2871216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38728" y="292608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React Router pages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538728" y="316382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Profile, results and admin entry</a:t>
            </a:r>
            <a:endParaRPr lang="en-US" sz="1100" dirty="0"/>
          </a:p>
        </p:txBody>
      </p:sp>
      <p:sp>
        <p:nvSpPr>
          <p:cNvPr id="32" name="Zone 2 component 3"/>
          <p:cNvSpPr/>
          <p:nvPr/>
        </p:nvSpPr>
        <p:spPr>
          <a:xfrm>
            <a:off x="3447288" y="3685032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38728" y="3739896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Profile &amp; eligibility form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538728" y="397764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Skill picker, country, study level, year</a:t>
            </a:r>
            <a:endParaRPr lang="en-US" sz="1100" dirty="0"/>
          </a:p>
        </p:txBody>
      </p:sp>
      <p:sp>
        <p:nvSpPr>
          <p:cNvPr id="35" name="Zone 2 component 4"/>
          <p:cNvSpPr/>
          <p:nvPr/>
        </p:nvSpPr>
        <p:spPr>
          <a:xfrm>
            <a:off x="3447288" y="4498848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38728" y="4553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Results view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538728" y="479145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Fit, reasons, gaps, deadline, source link</a:t>
            </a:r>
            <a:endParaRPr lang="en-US" sz="1100" dirty="0"/>
          </a:p>
        </p:txBody>
      </p:sp>
      <p:sp>
        <p:nvSpPr>
          <p:cNvPr id="38" name="Zone 2 component 5"/>
          <p:cNvSpPr/>
          <p:nvPr/>
        </p:nvSpPr>
        <p:spPr>
          <a:xfrm>
            <a:off x="3447288" y="5312664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38728" y="536752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Authenticated API helper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538728" y="560527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Existing helper; loading, empty, error states</a:t>
            </a:r>
            <a:endParaRPr lang="en-US" sz="1100" dirty="0"/>
          </a:p>
        </p:txBody>
      </p:sp>
      <p:sp>
        <p:nvSpPr>
          <p:cNvPr id="41" name="Zone panel 3"/>
          <p:cNvSpPr/>
          <p:nvPr/>
        </p:nvSpPr>
        <p:spPr>
          <a:xfrm>
            <a:off x="6163056" y="1280160"/>
            <a:ext cx="2706624" cy="4892040"/>
          </a:xfrm>
          <a:prstGeom prst="roundRect">
            <a:avLst>
              <a:gd name="adj" fmla="val 2703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42" name="Zone header 3"/>
          <p:cNvSpPr/>
          <p:nvPr/>
        </p:nvSpPr>
        <p:spPr>
          <a:xfrm>
            <a:off x="6163056" y="1280160"/>
            <a:ext cx="2706624" cy="658368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0216" y="1344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ZONE 3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300216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 (application)</a:t>
            </a:r>
            <a:endParaRPr lang="en-US" sz="1500" dirty="0"/>
          </a:p>
        </p:txBody>
      </p:sp>
      <p:sp>
        <p:nvSpPr>
          <p:cNvPr id="45" name="Zone 3 component 1"/>
          <p:cNvSpPr/>
          <p:nvPr/>
        </p:nvSpPr>
        <p:spPr>
          <a:xfrm>
            <a:off x="6254496" y="2057400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45936" y="211226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Flask app factory + auth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345936" y="23500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Existing patterns; ownership and admin checks</a:t>
            </a:r>
            <a:endParaRPr lang="en-US" sz="1100" dirty="0"/>
          </a:p>
        </p:txBody>
      </p:sp>
      <p:sp>
        <p:nvSpPr>
          <p:cNvPr id="48" name="Zone 3 component 2"/>
          <p:cNvSpPr/>
          <p:nvPr/>
        </p:nvSpPr>
        <p:spPr>
          <a:xfrm>
            <a:off x="6254496" y="2871216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45936" y="292608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REST API under /api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345936" y="316382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skills, student-profile, opportunities, matches, admin</a:t>
            </a:r>
            <a:endParaRPr lang="en-US" sz="1100" dirty="0"/>
          </a:p>
        </p:txBody>
      </p:sp>
      <p:sp>
        <p:nvSpPr>
          <p:cNvPr id="51" name="Zone 3 component 3"/>
          <p:cNvSpPr/>
          <p:nvPr/>
        </p:nvSpPr>
        <p:spPr>
          <a:xfrm>
            <a:off x="6254496" y="3685032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45936" y="3739896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Eligibility evaluator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345936" y="397764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Pure Python rules that return reasons</a:t>
            </a:r>
            <a:endParaRPr lang="en-US" sz="1100" dirty="0"/>
          </a:p>
        </p:txBody>
      </p:sp>
      <p:sp>
        <p:nvSpPr>
          <p:cNvPr id="54" name="Zone 3 component 4"/>
          <p:cNvSpPr/>
          <p:nvPr/>
        </p:nvSpPr>
        <p:spPr>
          <a:xfrm>
            <a:off x="6254496" y="4498848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45936" y="4553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Scoring &amp; ranking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345936" y="479145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Weighted fit, deterministic ordering</a:t>
            </a:r>
            <a:endParaRPr lang="en-US" sz="1100" dirty="0"/>
          </a:p>
        </p:txBody>
      </p:sp>
      <p:sp>
        <p:nvSpPr>
          <p:cNvPr id="57" name="Zone 3 component 5"/>
          <p:cNvSpPr/>
          <p:nvPr/>
        </p:nvSpPr>
        <p:spPr>
          <a:xfrm>
            <a:off x="6254496" y="5312664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45936" y="536752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Ingestion service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345936" y="560527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Extract, normalize, validate, upsert</a:t>
            </a:r>
            <a:endParaRPr lang="en-US" sz="1100" dirty="0"/>
          </a:p>
        </p:txBody>
      </p:sp>
      <p:sp>
        <p:nvSpPr>
          <p:cNvPr id="60" name="Zone panel 4"/>
          <p:cNvSpPr/>
          <p:nvPr/>
        </p:nvSpPr>
        <p:spPr>
          <a:xfrm>
            <a:off x="8970264" y="1280160"/>
            <a:ext cx="2706624" cy="4892040"/>
          </a:xfrm>
          <a:prstGeom prst="roundRect">
            <a:avLst>
              <a:gd name="adj" fmla="val 2703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61" name="Zone header 4"/>
          <p:cNvSpPr/>
          <p:nvPr/>
        </p:nvSpPr>
        <p:spPr>
          <a:xfrm>
            <a:off x="8970264" y="1280160"/>
            <a:ext cx="2706624" cy="658368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107424" y="1344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ZONE 4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9107424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 &amp; intelligence</a:t>
            </a:r>
            <a:endParaRPr lang="en-US" sz="1500" dirty="0"/>
          </a:p>
        </p:txBody>
      </p:sp>
      <p:sp>
        <p:nvSpPr>
          <p:cNvPr id="64" name="Zone 4 component 1"/>
          <p:cNvSpPr/>
          <p:nvPr/>
        </p:nvSpPr>
        <p:spPr>
          <a:xfrm>
            <a:off x="9061704" y="2057400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153144" y="211226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Supabase PostgreSQL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9153144" y="235000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skills, student_profiles, opportunities, opportunity_skills, ingestion_runs</a:t>
            </a:r>
            <a:endParaRPr lang="en-US" sz="1100" dirty="0"/>
          </a:p>
        </p:txBody>
      </p:sp>
      <p:sp>
        <p:nvSpPr>
          <p:cNvPr id="67" name="Zone 4 component 2"/>
          <p:cNvSpPr/>
          <p:nvPr/>
        </p:nvSpPr>
        <p:spPr>
          <a:xfrm>
            <a:off x="9061704" y="2871216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153144" y="292608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JSONB evidence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9153144" y="3163824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Eligibility rules and extraction excerpts</a:t>
            </a:r>
            <a:endParaRPr lang="en-US" sz="1100" dirty="0"/>
          </a:p>
        </p:txBody>
      </p:sp>
      <p:sp>
        <p:nvSpPr>
          <p:cNvPr id="70" name="Zone 4 component 3"/>
          <p:cNvSpPr/>
          <p:nvPr/>
        </p:nvSpPr>
        <p:spPr>
          <a:xfrm>
            <a:off x="9061704" y="3685032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153144" y="3739896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Content-hash check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9153144" y="397764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Unchanged pages skip Gemini calls</a:t>
            </a:r>
            <a:endParaRPr lang="en-US" sz="1100" dirty="0"/>
          </a:p>
        </p:txBody>
      </p:sp>
      <p:sp>
        <p:nvSpPr>
          <p:cNvPr id="73" name="Zone 4 component 4"/>
          <p:cNvSpPr/>
          <p:nvPr/>
        </p:nvSpPr>
        <p:spPr>
          <a:xfrm>
            <a:off x="9061704" y="4498848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153144" y="4553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Scheduled runner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9153144" y="479145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Separate from Flask; run lock and run logs</a:t>
            </a:r>
            <a:endParaRPr lang="en-US" sz="1100" dirty="0"/>
          </a:p>
        </p:txBody>
      </p:sp>
      <p:sp>
        <p:nvSpPr>
          <p:cNvPr id="76" name="Zone 4 component 5"/>
          <p:cNvSpPr/>
          <p:nvPr/>
        </p:nvSpPr>
        <p:spPr>
          <a:xfrm>
            <a:off x="9061704" y="5312664"/>
            <a:ext cx="252374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153144" y="536752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Backend-only access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9153144" y="560527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RLS enabled; privileged key stays behind Flask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Deterministic matching engine</a:t>
            </a:r>
            <a:endParaRPr lang="en-US" sz="3400" dirty="0"/>
          </a:p>
        </p:txBody>
      </p:sp>
      <p:sp>
        <p:nvSpPr>
          <p:cNvPr id="3" name="Skill fit panel"/>
          <p:cNvSpPr/>
          <p:nvPr/>
        </p:nvSpPr>
        <p:spPr>
          <a:xfrm>
            <a:off x="548640" y="1280160"/>
            <a:ext cx="5669280" cy="4892040"/>
          </a:xfrm>
          <a:prstGeom prst="roundRect">
            <a:avLst>
              <a:gd name="adj" fmla="val 1495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Weighted skill fit</a:t>
            </a:r>
            <a:endParaRPr lang="en-US" sz="2000" dirty="0"/>
          </a:p>
        </p:txBody>
      </p:sp>
      <p:sp>
        <p:nvSpPr>
          <p:cNvPr id="5" name="Formula"/>
          <p:cNvSpPr/>
          <p:nvPr/>
        </p:nvSpPr>
        <p:spPr>
          <a:xfrm>
            <a:off x="777240" y="187452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0B3C3F"/>
          </a:solidFill>
          <a:ln w="12700">
            <a:solidFill>
              <a:srgbClr val="0B3C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skill_fit = 100 x matched weight / total listed weight</a:t>
            </a:r>
            <a:endParaRPr lang="en-US" sz="1600" dirty="0"/>
          </a:p>
        </p:txBody>
      </p:sp>
      <p:sp>
        <p:nvSpPr>
          <p:cNvPr id="7" name="Required chip"/>
          <p:cNvSpPr/>
          <p:nvPr/>
        </p:nvSpPr>
        <p:spPr>
          <a:xfrm>
            <a:off x="777240" y="27889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Required = 2</a:t>
            </a:r>
            <a:endParaRPr lang="en-US" sz="1400" dirty="0"/>
          </a:p>
        </p:txBody>
      </p:sp>
      <p:sp>
        <p:nvSpPr>
          <p:cNvPr id="9" name="Preferred chip"/>
          <p:cNvSpPr/>
          <p:nvPr/>
        </p:nvSpPr>
        <p:spPr>
          <a:xfrm>
            <a:off x="3520440" y="27889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Preferred = 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WORKED EXAMPLE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49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Listed: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python (required), sql (required), react (preferred)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weight: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 + 2 + 1 = 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Student has: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python, react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Matched weight: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 + 1 = 3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Missing required: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sql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8404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60.0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892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skill_fit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5212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Fit is not acceptance probability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Eligibility status</a:t>
            </a:r>
            <a:endParaRPr lang="en-US" sz="2000" dirty="0"/>
          </a:p>
        </p:txBody>
      </p:sp>
      <p:sp>
        <p:nvSpPr>
          <p:cNvPr id="17" name="Status card Eligible"/>
          <p:cNvSpPr/>
          <p:nvPr/>
        </p:nvSpPr>
        <p:spPr>
          <a:xfrm>
            <a:off x="6492240" y="173736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Status pill Eligible"/>
          <p:cNvSpPr/>
          <p:nvPr/>
        </p:nvSpPr>
        <p:spPr>
          <a:xfrm>
            <a:off x="6629400" y="199339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19933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Eligible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18288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applicable rules are known and met</a:t>
            </a:r>
            <a:endParaRPr lang="en-US" sz="1400" dirty="0"/>
          </a:p>
        </p:txBody>
      </p:sp>
      <p:sp>
        <p:nvSpPr>
          <p:cNvPr id="21" name="Status card Needs verification"/>
          <p:cNvSpPr/>
          <p:nvPr/>
        </p:nvSpPr>
        <p:spPr>
          <a:xfrm>
            <a:off x="6492240" y="2761488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Status pill Needs verification"/>
          <p:cNvSpPr/>
          <p:nvPr/>
        </p:nvSpPr>
        <p:spPr>
          <a:xfrm>
            <a:off x="6629400" y="30175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3017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Needs verification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2852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Profile info or source rules are incomplete</a:t>
            </a:r>
            <a:endParaRPr lang="en-US" sz="1400" dirty="0"/>
          </a:p>
        </p:txBody>
      </p:sp>
      <p:sp>
        <p:nvSpPr>
          <p:cNvPr id="25" name="Status card Ineligible"/>
          <p:cNvSpPr/>
          <p:nvPr/>
        </p:nvSpPr>
        <p:spPr>
          <a:xfrm>
            <a:off x="6492240" y="3785616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6" name="Status pill Ineligible"/>
          <p:cNvSpPr/>
          <p:nvPr/>
        </p:nvSpPr>
        <p:spPr>
          <a:xfrm>
            <a:off x="6629400" y="4041648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40416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Ineligible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387705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explicit rule fails; shown only on request</a:t>
            </a:r>
            <a:endParaRPr lang="en-US" sz="1400" dirty="0"/>
          </a:p>
        </p:txBody>
      </p:sp>
      <p:sp>
        <p:nvSpPr>
          <p:cNvPr id="29" name="Ranking card"/>
          <p:cNvSpPr/>
          <p:nvPr/>
        </p:nvSpPr>
        <p:spPr>
          <a:xfrm>
            <a:off x="6492240" y="48463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0B3C3F"/>
          </a:solidFill>
          <a:ln w="12700">
            <a:solidFill>
              <a:srgbClr val="0B3C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495604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Rank: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eligible first, then skill fit high to low (null last), ties by title then ID.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Exclude: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closed, unapproved or past-deadline entries. Unknown deadlines stay visible with a warning.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Feasibility and risk control</a:t>
            </a:r>
            <a:endParaRPr lang="en-US" sz="3400" dirty="0"/>
          </a:p>
        </p:txBody>
      </p:sp>
      <p:sp>
        <p:nvSpPr>
          <p:cNvPr id="3" name="Feasibility card 1"/>
          <p:cNvSpPr/>
          <p:nvPr/>
        </p:nvSpPr>
        <p:spPr>
          <a:xfrm>
            <a:off x="548640" y="1325880"/>
            <a:ext cx="4389120" cy="1463040"/>
          </a:xfrm>
          <a:prstGeom prst="roundRect">
            <a:avLst>
              <a:gd name="adj" fmla="val 5000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4" name="Icon Built on what exists circl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con Built on what exists" descr="Icon Built on what exi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Built on what exists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9476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React, Flask, Supabase and google-genai stay. No framework migration.</a:t>
            </a:r>
            <a:endParaRPr lang="en-US" sz="1400" dirty="0"/>
          </a:p>
        </p:txBody>
      </p:sp>
      <p:sp>
        <p:nvSpPr>
          <p:cNvPr id="8" name="Feasibility card 2"/>
          <p:cNvSpPr/>
          <p:nvPr/>
        </p:nvSpPr>
        <p:spPr>
          <a:xfrm>
            <a:off x="548640" y="2953512"/>
            <a:ext cx="4389120" cy="1463040"/>
          </a:xfrm>
          <a:prstGeom prst="roundRect">
            <a:avLst>
              <a:gd name="adj" fmla="val 5000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9" name="Icon Works without AI circle"/>
          <p:cNvSpPr/>
          <p:nvPr/>
        </p:nvSpPr>
        <p:spPr>
          <a:xfrm>
            <a:off x="731520" y="313639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con Works without AI" descr="Icon Works without A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735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Works without AI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357530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Matching is pure Python, so it runs even if Gemini or the scraper is down.</a:t>
            </a:r>
            <a:endParaRPr lang="en-US" sz="1400" dirty="0"/>
          </a:p>
        </p:txBody>
      </p:sp>
      <p:sp>
        <p:nvSpPr>
          <p:cNvPr id="13" name="Feasibility card 3"/>
          <p:cNvSpPr/>
          <p:nvPr/>
        </p:nvSpPr>
        <p:spPr>
          <a:xfrm>
            <a:off x="548640" y="4581144"/>
            <a:ext cx="4389120" cy="1463040"/>
          </a:xfrm>
          <a:prstGeom prst="roundRect">
            <a:avLst>
              <a:gd name="adj" fmla="val 5000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14" name="Icon Small, proven scope circle"/>
          <p:cNvSpPr/>
          <p:nvPr/>
        </p:nvSpPr>
        <p:spPr>
          <a:xfrm>
            <a:off x="731520" y="4764024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con Small, proven scope" descr="Icon Small, proven 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0118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764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Small, proven scope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520293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source adapter first, with curated seed data for demos.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325880"/>
          <a:ext cx="6400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480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we handle 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Source blocks or changes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 source chosen after an access check; no login or CAPTCHA bypass; a failed fetch keeps old records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Wrong AI extraction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Schema output validated in Python; evidence kept; ambiguous entries stay needs_review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Duplicates and overlap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Unique source URL and external ID; upserts; a lock blocks overlapping runs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Untrusted page content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Fetched text is treated as data, never as instructions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Private data exposure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Ownership checks, admin-only mutations, RLS, no tokens in logs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Impact and roadmap</a:t>
            </a:r>
            <a:endParaRPr lang="en-US" sz="3400" dirty="0"/>
          </a:p>
        </p:txBody>
      </p:sp>
      <p:sp>
        <p:nvSpPr>
          <p:cNvPr id="3" name="Impact card 1"/>
          <p:cNvSpPr/>
          <p:nvPr/>
        </p:nvSpPr>
        <p:spPr>
          <a:xfrm>
            <a:off x="548640" y="12801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4" name="Icon Students circle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con Students" descr="Icon Stud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44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Students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 what fits, why, and when it closes in one ranked list.</a:t>
            </a:r>
            <a:endParaRPr lang="en-US" sz="1400" dirty="0"/>
          </a:p>
        </p:txBody>
      </p:sp>
      <p:sp>
        <p:nvSpPr>
          <p:cNvPr id="8" name="Impact card 2"/>
          <p:cNvSpPr/>
          <p:nvPr/>
        </p:nvSpPr>
        <p:spPr>
          <a:xfrm>
            <a:off x="548640" y="26974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9" name="Icon Skill growth circle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con Skill growth" descr="Icon Skill grow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00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862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Skill growth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3291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Missing skills become clear learning targets.</a:t>
            </a:r>
            <a:endParaRPr lang="en-US" sz="1400" dirty="0"/>
          </a:p>
        </p:txBody>
      </p:sp>
      <p:sp>
        <p:nvSpPr>
          <p:cNvPr id="13" name="Impact card 3"/>
          <p:cNvSpPr/>
          <p:nvPr/>
        </p:nvSpPr>
        <p:spPr>
          <a:xfrm>
            <a:off x="548640" y="41148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CF5F4"/>
          </a:solidFill>
          <a:ln w="12700">
            <a:solidFill>
              <a:srgbClr val="ECF5F4"/>
            </a:solidFill>
            <a:prstDash val="solid"/>
          </a:ln>
        </p:spPr>
      </p:sp>
      <p:sp>
        <p:nvSpPr>
          <p:cNvPr id="14" name="Icon Catalogue owners circle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con Catalogue owners" descr="Icon Catalogue own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6177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Catalogue owners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7091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safe, repeatable refresh keeps listings current.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1264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BUILD ORDER</a:t>
            </a:r>
            <a:endParaRPr lang="en-US" sz="1200" dirty="0"/>
          </a:p>
        </p:txBody>
      </p:sp>
      <p:sp>
        <p:nvSpPr>
          <p:cNvPr id="19" name="Step circle 1"/>
          <p:cNvSpPr/>
          <p:nvPr/>
        </p:nvSpPr>
        <p:spPr>
          <a:xfrm>
            <a:off x="6126480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1264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7665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Contracts and shared fixtures</a:t>
            </a:r>
            <a:endParaRPr lang="en-US" sz="1600" dirty="0"/>
          </a:p>
        </p:txBody>
      </p:sp>
      <p:sp>
        <p:nvSpPr>
          <p:cNvPr id="22" name="Step circle 2"/>
          <p:cNvSpPr/>
          <p:nvPr/>
        </p:nvSpPr>
        <p:spPr>
          <a:xfrm>
            <a:off x="6126480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1264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76656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End-to-end matching on curated data</a:t>
            </a:r>
            <a:endParaRPr lang="en-US" sz="1600" dirty="0"/>
          </a:p>
        </p:txBody>
      </p:sp>
      <p:sp>
        <p:nvSpPr>
          <p:cNvPr id="25" name="Step circle 3"/>
          <p:cNvSpPr/>
          <p:nvPr/>
        </p:nvSpPr>
        <p:spPr>
          <a:xfrm>
            <a:off x="6126480" y="29260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1264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766560" y="2926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live source adapter</a:t>
            </a:r>
            <a:endParaRPr lang="en-US" sz="1600" dirty="0"/>
          </a:p>
        </p:txBody>
      </p:sp>
      <p:sp>
        <p:nvSpPr>
          <p:cNvPr id="28" name="Step circle 4"/>
          <p:cNvSpPr/>
          <p:nvPr/>
        </p:nvSpPr>
        <p:spPr>
          <a:xfrm>
            <a:off x="6126480" y="35661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126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76656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Verify repeatable imports</a:t>
            </a:r>
            <a:endParaRPr lang="en-US" sz="1600" dirty="0"/>
          </a:p>
        </p:txBody>
      </p:sp>
      <p:sp>
        <p:nvSpPr>
          <p:cNvPr id="31" name="Step circle 5"/>
          <p:cNvSpPr/>
          <p:nvPr/>
        </p:nvSpPr>
        <p:spPr>
          <a:xfrm>
            <a:off x="6126480" y="42062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1264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676656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Separate scheduled runner, polish and tests</a:t>
            </a:r>
            <a:endParaRPr lang="en-US" sz="1600" dirty="0"/>
          </a:p>
        </p:txBody>
      </p:sp>
      <p:sp>
        <p:nvSpPr>
          <p:cNvPr id="34" name="Phase 2 card"/>
          <p:cNvSpPr/>
          <p:nvPr/>
        </p:nvSpPr>
        <p:spPr>
          <a:xfrm>
            <a:off x="6126480" y="49377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309360" y="49377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Deferred: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source adapters, embeddings, calendar view, notifications.</a:t>
            </a:r>
            <a:endParaRPr lang="en-US" sz="1400" dirty="0"/>
          </a:p>
        </p:txBody>
      </p:sp>
      <p:sp>
        <p:nvSpPr>
          <p:cNvPr id="36" name="Tagline banner"/>
          <p:cNvSpPr/>
          <p:nvPr/>
        </p:nvSpPr>
        <p:spPr>
          <a:xfrm>
            <a:off x="548640" y="562356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0B3C3F"/>
          </a:solidFill>
          <a:ln w="12700">
            <a:solidFill>
              <a:srgbClr val="0B3C3F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4864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From 'what is out there?' to 'what fits me?'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Bridge">
  <a:themeElements>
    <a:clrScheme name="SkillBridge">
      <a:dk1>
        <a:srgbClr val="13242B"/>
      </a:dk1>
      <a:lt1>
        <a:srgbClr val="FFFFFF"/>
      </a:lt1>
      <a:dk2>
        <a:srgbClr val="0B3C3F"/>
      </a:dk2>
      <a:lt2>
        <a:srgbClr val="ECF5F4"/>
      </a:lt2>
      <a:accent1>
        <a:srgbClr val="0F766E"/>
      </a:accent1>
      <a:accent2>
        <a:srgbClr val="F59E0B"/>
      </a:accent2>
      <a:accent3>
        <a:srgbClr val="2563EB"/>
      </a:accent3>
      <a:accent4>
        <a:srgbClr val="DC2626"/>
      </a:accent4>
      <a:accent5>
        <a:srgbClr val="16A34A"/>
      </a:accent5>
      <a:accent6>
        <a:srgbClr val="64748B"/>
      </a:accent6>
      <a:hlink>
        <a:srgbClr val="0F766E"/>
      </a:hlink>
      <a:folHlink>
        <a:srgbClr val="64748B"/>
      </a:folHlink>
    </a:clrScheme>
    <a:fontScheme name="SkillBrid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 - Internship &amp; Hackathon Matcher</dc:title>
  <dc:subject>PptxGenJS Presentation</dc:subject>
  <dc:creator>PptxGenJS</dc:creator>
  <cp:lastModifiedBy>PptxGenJS</cp:lastModifiedBy>
  <cp:revision>1</cp:revision>
  <dcterms:created xsi:type="dcterms:W3CDTF">2026-10-24T07:00:17Z</dcterms:created>
  <dcterms:modified xsi:type="dcterms:W3CDTF">2026-10-24T07:00:17Z</dcterms:modified>
</cp:coreProperties>
</file>